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C5F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07-4326-9C3D-2D4F464E27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07-4326-9C3D-2D4F464E279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207-4326-9C3D-2D4F464E279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207-4326-9C3D-2D4F464E2793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07-4326-9C3D-2D4F464E2793}"/>
              </c:ext>
            </c:extLst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07-4326-9C3D-2D4F464E2793}"/>
              </c:ext>
            </c:extLst>
          </c:dPt>
          <c:dPt>
            <c:idx val="6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207-4326-9C3D-2D4F464E2793}"/>
              </c:ext>
            </c:extLst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207-4326-9C3D-2D4F464E27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Attitude of Support Person</c:v>
                </c:pt>
                <c:pt idx="1">
                  <c:v>Competitor: Higher Download Speeds</c:v>
                </c:pt>
                <c:pt idx="2">
                  <c:v>Competitor: More Data</c:v>
                </c:pt>
                <c:pt idx="3">
                  <c:v>Competitor: Better Offer</c:v>
                </c:pt>
                <c:pt idx="4">
                  <c:v>Attitude of Service Provider</c:v>
                </c:pt>
                <c:pt idx="5">
                  <c:v>Network Reliability</c:v>
                </c:pt>
                <c:pt idx="6">
                  <c:v>Product Dissatisfaction</c:v>
                </c:pt>
                <c:pt idx="7">
                  <c:v>Price Too High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</c:v>
                </c:pt>
                <c:pt idx="1">
                  <c:v>189</c:v>
                </c:pt>
                <c:pt idx="2">
                  <c:v>162</c:v>
                </c:pt>
                <c:pt idx="3">
                  <c:v>140</c:v>
                </c:pt>
                <c:pt idx="4">
                  <c:v>135</c:v>
                </c:pt>
                <c:pt idx="5">
                  <c:v>103</c:v>
                </c:pt>
                <c:pt idx="6">
                  <c:v>102</c:v>
                </c:pt>
                <c:pt idx="7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207-4326-9C3D-2D4F464E27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4F-48E9-9C4D-1322137891DF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4F-48E9-9C4D-1322137891D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4F-48E9-9C4D-1322137891D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4F-48E9-9C4D-1322137891D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Did Not Churn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73.459999999999994</c:v>
                </c:pt>
                <c:pt idx="1">
                  <c:v>26.54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4F-48E9-9C4D-1322137891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D7A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EB8-48F3-88D6-785CBA0C4BB8}"/>
              </c:ext>
            </c:extLst>
          </c:dPt>
          <c:dPt>
            <c:idx val="1"/>
            <c:invertIfNegative val="0"/>
            <c:bubble3D val="0"/>
            <c:spPr>
              <a:solidFill>
                <a:srgbClr val="1C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B8-48F3-88D6-785CBA0C4BB8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B8-48F3-88D6-785CBA0C4B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Internet Service</c:v>
                </c:pt>
                <c:pt idx="1">
                  <c:v>DSL</c:v>
                </c:pt>
                <c:pt idx="2">
                  <c:v>Fiber Optic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19</c:v>
                </c:pt>
                <c:pt idx="2">
                  <c:v>41.9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B8-48F3-88D6-785CBA0C4BB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solidFill>
              <a:srgbClr val="0D7A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6C-40E9-A56D-1F01DFBB594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86C-40E9-A56D-1F01DFBB594E}"/>
              </c:ext>
            </c:extLst>
          </c:dPt>
          <c:dPt>
            <c:idx val="2"/>
            <c:invertIfNegative val="0"/>
            <c:bubble3D val="0"/>
            <c:spPr>
              <a:solidFill>
                <a:srgbClr val="1C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6C-40E9-A56D-1F01DFBB594E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86C-40E9-A56D-1F01DFBB594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Bank Transfer</c:v>
                </c:pt>
                <c:pt idx="2">
                  <c:v>Mailed Check</c:v>
                </c:pt>
                <c:pt idx="3">
                  <c:v>Electronic Check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258</c:v>
                </c:pt>
                <c:pt idx="2">
                  <c:v>308</c:v>
                </c:pt>
                <c:pt idx="3">
                  <c:v>1071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6C-40E9-A56D-1F01DFBB59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5FA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0–12 mo</c:v>
                </c:pt>
                <c:pt idx="1">
                  <c:v>13–24 mo</c:v>
                </c:pt>
                <c:pt idx="2">
                  <c:v>25–36 mo</c:v>
                </c:pt>
                <c:pt idx="3">
                  <c:v>37–48 mo</c:v>
                </c:pt>
                <c:pt idx="4">
                  <c:v>49–60 mo</c:v>
                </c:pt>
                <c:pt idx="5">
                  <c:v>61–72 mo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1037</c:v>
                </c:pt>
                <c:pt idx="1">
                  <c:v>280</c:v>
                </c:pt>
                <c:pt idx="2">
                  <c:v>200</c:v>
                </c:pt>
                <c:pt idx="3">
                  <c:v>170</c:v>
                </c:pt>
                <c:pt idx="4">
                  <c:v>115</c:v>
                </c:pt>
                <c:pt idx="5">
                  <c:v>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972-47C6-9658-5E34A00A53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D7A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75-43F3-B8CD-6F5492036A99}"/>
              </c:ext>
            </c:extLst>
          </c:dPt>
          <c:dPt>
            <c:idx val="1"/>
            <c:invertIfNegative val="0"/>
            <c:bubble3D val="0"/>
            <c:spPr>
              <a:solidFill>
                <a:srgbClr val="1C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75-43F3-B8CD-6F5492036A99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75-43F3-B8CD-6F5492036A9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Two Year</c:v>
                </c:pt>
                <c:pt idx="1">
                  <c:v>One Year</c:v>
                </c:pt>
                <c:pt idx="2">
                  <c:v>Month-to-Month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2.83</c:v>
                </c:pt>
                <c:pt idx="1">
                  <c:v>11.27</c:v>
                </c:pt>
                <c:pt idx="2">
                  <c:v>42.71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75-43F3-B8CD-6F5492036A9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27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AND MATHEMATICAL SCIENCES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 and Reporting Techniques  |  DSC651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7315200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8C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Power BI Dashboard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IBM Telco Customer Churn Dataset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852928"/>
            <a:ext cx="7315200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CDCS2416A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73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Nurul Amira Ainna Binti Abdullah  |  2023644162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Maisarah Binti Mohd Zamri  |  2023260828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Luqman Hakim Bin Syahrulnizam  |  2023406404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Luqman Haqimi Bin Shahmizan  |  2023213766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Dr Amri Bin Ab. Rahman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075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165506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 &amp;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4505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88720" y="279806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Concepts &amp; Factors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935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88720" y="394106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Design, Data Source &amp;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234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02920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13075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15000" y="165506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Visualisations from 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377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5029200" y="2560320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5029200" y="2560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24505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715000" y="279806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C3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 &amp; Research Objectives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of Study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Dataset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24612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Services, Financials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61722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telecommunications industry faces high competition, making customer retention a strategic priority.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— customers leaving for competitors — directly impacts revenue and profitability.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new customers costs significantly more than retaining existing ones (Ahmad et al., 2022).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transforms raw customer data into interactive visual dashboards for decision-making.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uses the IBM Telco dataset to visualize churn patterns across demographic, service, contract, and financial factors.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Research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FFF8EC"/>
          </a:solidFill>
          <a:ln w="12700">
            <a:solidFill>
              <a:srgbClr val="F0C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rates reduce revenue, profitability, and customer lifetime value.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(spreadsheets, static reports) fail to communicate insights to non-technical stakeholders.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 make it hard to identify churn relationships without effective visualization.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insights remain underutilised for retention planning.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800600" y="10515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481328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463040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churn distribution across demographic groups, specifically by gender.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80060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66360" y="226771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overall distribution of customer churn in the telecom industry.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090672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80060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307238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churn patterns by internet service type, payment method, and tenure.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895344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4800600" y="3895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877056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relationship between contract type and customer churn.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C3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Concepts, Telecom Industry &amp; Key Factors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– Key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38912" y="1124712"/>
            <a:ext cx="475488" cy="47548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38912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124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733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customers when they discontinue a service or switch providers. One of the most critical KPIs for telecom companies (Ahmad et al., 2022).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AFAF3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873752" y="1124712"/>
            <a:ext cx="475488" cy="475488"/>
          </a:xfrm>
          <a:prstGeom prst="ellipse">
            <a:avLst/>
          </a:prstGeom>
          <a:solidFill>
            <a:srgbClr val="0D7A5A"/>
          </a:solidFill>
          <a:ln w="12700">
            <a:solidFill>
              <a:srgbClr val="0D7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873752" y="11247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58968" y="1124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Industry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6733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competitive sector where customers easily switch providers. High churn leads to revenue loss and increased marketing expenses (Huang et al., 2022).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DF2F7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438912" y="3136392"/>
            <a:ext cx="475488" cy="475488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38912" y="3136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136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Factors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6850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service, contract, and financial factors all influence churn. Month-to-month contracts and Fiber Optic services show highest risk (Bhuse et al., 2022).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4873752" y="3136392"/>
            <a:ext cx="475488" cy="475488"/>
          </a:xfrm>
          <a:prstGeom prst="ellipse">
            <a:avLst/>
          </a:prstGeom>
          <a:solidFill>
            <a:srgbClr val="A05C00"/>
          </a:solidFill>
          <a:ln w="12700">
            <a:solidFill>
              <a:srgbClr val="A05C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873752" y="3136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58968" y="3136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&amp; Power BI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6850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transforms raw data into interactive visual insights, enabling organizations to monitor and communicate churn findings effectively (Al-Fattah &amp; Ibrahim, 2023).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C3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Design, Data Source, Variables &amp;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 &amp; Data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768096" y="1115568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68096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Dataset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records | 33 vars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278892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2700">
            <a:solidFill>
              <a:srgbClr val="F0C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505456" y="111556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505456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2212848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type-fix,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78892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3749040" y="100584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4242816" y="1115568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242816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18288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22192" y="2212848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278892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2700">
            <a:solidFill>
              <a:srgbClr val="F0C0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5980176" y="111556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5980176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18288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9552" y="2212848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charts: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bar,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doughnut, line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86600" y="278892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7223760" y="100584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7717536" y="1115568"/>
            <a:ext cx="566928" cy="566928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7717536" y="1115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18288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96912" y="2212848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telecom cos.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Variables Used in Analysis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4023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gender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SeniorCitizen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citizen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with company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internet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bill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TotalCharges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billed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B2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status (Yes/No)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B2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C3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Power BI Visualisations Analysed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 Customer Churn Distribution by Gender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852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560320" cy="4069080"/>
          </a:xfrm>
          <a:prstGeom prst="roundRect">
            <a:avLst>
              <a:gd name="adj" fmla="val 3571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6355080" y="10789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55080" y="150876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customers: 939 churned (26.92%) vs Male: 930 churned (26.16%)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are nearly equal between genders — gender alone is not a strong churn predictor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male (3,555) and female (3,488) customers show similar churn behaviour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focus retention strategies on service quality and contract type rather than gender segmentation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 Overall Customer Churn Distribution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4572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9601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5394960" y="9601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94960" y="1417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19842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EAFAF3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5394960" y="198424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73.46%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94960" y="24414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94960" y="3008376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Text 9"/>
          <p:cNvSpPr/>
          <p:nvPr/>
        </p:nvSpPr>
        <p:spPr>
          <a:xfrm>
            <a:off x="5394960" y="300837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5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94960" y="34655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4032504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DF2F7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2"/>
          <p:cNvSpPr/>
          <p:nvPr/>
        </p:nvSpPr>
        <p:spPr>
          <a:xfrm>
            <a:off x="5394960" y="403250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2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94960" y="44897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Churn rate of 26.54% means more than 1 in 4 customers left — urgent retention focus needed.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 Customer Churn by Internet Service Type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3035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60120"/>
            <a:ext cx="3017520" cy="4069080"/>
          </a:xfrm>
          <a:prstGeom prst="roundRect">
            <a:avLst>
              <a:gd name="adj" fmla="val 3030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5943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2743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Optic: highest churn at 41.9% — nearly 4 in 10 customers left.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DSL: moderate churn at 19.0%.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Internet: lowest churn at only 7.4%.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 have high expectations for speed &amp; quality — unmet expectations drive switching.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invest in Fiber Optic service quality and proactive customer support.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 Churned Customers by Payment Method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852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560320" cy="4069080"/>
          </a:xfrm>
          <a:prstGeom prst="roundRect">
            <a:avLst>
              <a:gd name="adj" fmla="val 3571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6355080" y="1078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55080" y="150876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account for 1,071 churned customers — far higher than any other method.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payments (bank transfer, credit card) show much lower churn.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customers find it easier to stay subscribed.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promote automatic payment options to improve retention.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 Churned Customers by Tenure Group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852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560320" cy="4069080"/>
          </a:xfrm>
          <a:prstGeom prst="roundRect">
            <a:avLst>
              <a:gd name="adj" fmla="val 3571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6355080" y="1078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55080" y="1508760"/>
            <a:ext cx="23774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 months: 1,037 churned — highest of all groups by far.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drops sharply after the first year.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evaluate service quality early and leave if expectations aren't met.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period: the first 12 months determine long-term loyalty.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boost onboarding experience, proactive support &amp; early-stage offers.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 Customer Churn by Contract Type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3035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60120"/>
            <a:ext cx="3017520" cy="4069080"/>
          </a:xfrm>
          <a:prstGeom prst="roundRect">
            <a:avLst>
              <a:gd name="adj" fmla="val 3030"/>
            </a:avLst>
          </a:prstGeom>
          <a:solidFill>
            <a:srgbClr val="EEF4FB"/>
          </a:solidFill>
          <a:ln w="12700">
            <a:solidFill>
              <a:srgbClr val="90BA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594360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2743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Month-to-Month: highest churn at 42.71% — nearly half left.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contract: much lower at 11.27%.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 contract: lowest churn at only 2.83%.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contracts reduce flexibility to switch, keeping customers loyal.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incentivise long-term contract sign-ups through discounts or bundled benefits.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C3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–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810512"/>
          </a:xfrm>
          <a:prstGeom prst="roundRect">
            <a:avLst>
              <a:gd name="adj" fmla="val 5051"/>
            </a:avLst>
          </a:prstGeom>
          <a:solidFill>
            <a:srgbClr val="FDF2F7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438912" y="1124712"/>
            <a:ext cx="438912" cy="438912"/>
          </a:xfrm>
          <a:prstGeom prst="ellipse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38912" y="1124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143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2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have the highest churn (42.71%). Encouraging longer contracts significantly improves retention.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1810512"/>
          </a:xfrm>
          <a:prstGeom prst="roundRect">
            <a:avLst>
              <a:gd name="adj" fmla="val 5051"/>
            </a:avLst>
          </a:prstGeom>
          <a:solidFill>
            <a:srgbClr val="FFF8EC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3364992" y="1124712"/>
            <a:ext cx="438912" cy="438912"/>
          </a:xfrm>
          <a:prstGeom prst="ellipse">
            <a:avLst/>
          </a:prstGeom>
          <a:solidFill>
            <a:srgbClr val="A05C00"/>
          </a:solidFill>
          <a:ln w="12700">
            <a:solidFill>
              <a:srgbClr val="A05C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3364992" y="1124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13632" y="1143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most (41.9%). Service quality improvements are critical for this segment.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88920" cy="1810512"/>
          </a:xfrm>
          <a:prstGeom prst="roundRect">
            <a:avLst>
              <a:gd name="adj" fmla="val 5051"/>
            </a:avLst>
          </a:prstGeom>
          <a:solidFill>
            <a:srgbClr val="EEF4FB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291072" y="1124712"/>
            <a:ext cx="438912" cy="438912"/>
          </a:xfrm>
          <a:prstGeom prst="ellipse">
            <a:avLst/>
          </a:prstGeom>
          <a:solidFill>
            <a:srgbClr val="1C5FA8"/>
          </a:solidFill>
          <a:ln w="12700">
            <a:solidFill>
              <a:srgbClr val="1C5FA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291072" y="1124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9712" y="1143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5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lead with 1,071 churns. Promoting automatic payments can reduce churn.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88920" cy="1810512"/>
          </a:xfrm>
          <a:prstGeom prst="roundRect">
            <a:avLst>
              <a:gd name="adj" fmla="val 5051"/>
            </a:avLst>
          </a:prstGeom>
          <a:solidFill>
            <a:srgbClr val="EAFAF3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438912" y="3090672"/>
            <a:ext cx="438912" cy="438912"/>
          </a:xfrm>
          <a:prstGeom prst="ellipse">
            <a:avLst/>
          </a:prstGeom>
          <a:solidFill>
            <a:srgbClr val="0D7A5A"/>
          </a:solidFill>
          <a:ln w="12700">
            <a:solidFill>
              <a:srgbClr val="0D7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38912" y="3090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12 months are most critical — 1,037 churns. Onboarding experience must be prioritised.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88920" cy="1810512"/>
          </a:xfrm>
          <a:prstGeom prst="roundRect">
            <a:avLst>
              <a:gd name="adj" fmla="val 5051"/>
            </a:avLst>
          </a:prstGeom>
          <a:solidFill>
            <a:srgbClr val="F3EFF9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3364992" y="3090672"/>
            <a:ext cx="438912" cy="438912"/>
          </a:xfrm>
          <a:prstGeom prst="ellipse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3364992" y="3090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13632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are similar across genders (Female: 26.92%, Male: 26.16%). Gender is not a primary churn driver — focus on contract and service factors instead.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88920" cy="1810512"/>
          </a:xfrm>
          <a:prstGeom prst="roundRect">
            <a:avLst>
              <a:gd name="adj" fmla="val 5051"/>
            </a:avLst>
          </a:prstGeom>
          <a:solidFill>
            <a:srgbClr val="F2F2F2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6291072" y="3090672"/>
            <a:ext cx="438912" cy="438912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6291072" y="3090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39712" y="31089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520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successfully transformed raw data into actionable insights for stakeholders.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2834640"/>
            <a:ext cx="5486400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DSC651  |  Group CDCS2416A  |  Dr Amri Bin Ab. Rahman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Nurul Amira Ainna Binti Abdullah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Maisarah Binti Mohd Zamri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Luqman Hakim Bin Syahrulnizam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Luqman Haqimi Bin Shahmizan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1177</Words>
  <Application>Microsoft Office PowerPoint</Application>
  <PresentationFormat>On-screen Show (16:9)</PresentationFormat>
  <Paragraphs>243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– IBM Telco Dataset</dc:title>
  <dc:subject>PptxGenJS Presentation</dc:subject>
  <dc:creator>PptxGenJS</dc:creator>
  <cp:lastModifiedBy>MUHAMMAD LUQMAN HAKIM BIN SYAHRULNIZAM</cp:lastModifiedBy>
  <cp:revision>3</cp:revision>
  <dcterms:created xsi:type="dcterms:W3CDTF">2026-06-27T17:26:41Z</dcterms:created>
  <dcterms:modified xsi:type="dcterms:W3CDTF">2026-06-28T21:29:23Z</dcterms:modified>
</cp:coreProperties>
</file>